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E88A3C"/>
                </a:solidFill>
                <a:latin typeface="Noto Sans CJK TC"/>
              </a:rPr>
              <a:t>Photo2Story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000" b="1" i="0">
                <a:solidFill>
                  <a:srgbClr val="FFFFFF"/>
                </a:solidFill>
                <a:latin typeface="Noto Sans CJK TC"/>
              </a:rPr>
              <a:t>繪本品質三大調整</a:t>
            </a:r>
          </a:p>
          <a:p>
            <a:r>
              <a:rPr sz="2200" b="0" i="0">
                <a:solidFill>
                  <a:srgbClr val="C7D3EC"/>
                </a:solidFill>
                <a:latin typeface="Noto Sans CJK TC"/>
              </a:rPr>
              <a:t>Storybook Quality — Three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D8DFEE"/>
                </a:solidFill>
                <a:latin typeface="Noto Sans CJK TC"/>
              </a:rPr>
              <a:t>讓輸出更像「真正的兒童繪本」，而非「圖片 + 一段說明文字」</a:t>
            </a:r>
          </a:p>
          <a:p>
            <a:pPr>
              <a:spcBef>
                <a:spcPts val="1000"/>
              </a:spcBef>
            </a:pPr>
            <a:r>
              <a:rPr sz="1600" b="1" i="0">
                <a:solidFill>
                  <a:srgbClr val="E88A3C"/>
                </a:solidFill>
                <a:latin typeface="Noto Sans CJK TC"/>
              </a:rPr>
              <a:t>① 故事內容簡化    ② 固定大師畫風    ③ 滿版疊字排版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FAECC"/>
                </a:solidFill>
                <a:latin typeface="Noto Sans CJK TC"/>
              </a:rPr>
              <a:t>進度報告　|　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8A3C"/>
                </a:solidFill>
                <a:latin typeface="Noto Sans CJK TC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Noto Sans CJK TC"/>
              </a:rPr>
              <a:t>問題與目標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22262E"/>
                </a:solidFill>
                <a:latin typeface="Noto Sans CJK TC"/>
              </a:rPr>
              <a:t>現況：輸出較像「上方一張圖、下方一段說明」，文字偏長、畫風會漂移，閱讀體驗不像繪本。</a:t>
            </a:r>
          </a:p>
          <a:p>
            <a:pPr>
              <a:spcBef>
                <a:spcPts val="600"/>
              </a:spcBef>
            </a:pPr>
            <a:r>
              <a:rPr sz="1700" b="1" i="0">
                <a:solidFill>
                  <a:srgbClr val="2E5EAA"/>
                </a:solidFill>
                <a:latin typeface="Noto Sans CJK TC"/>
              </a:rPr>
              <a:t>目標：以三項可由 config 開關控制的調整，讓成品貼近真正的兒童繪本。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3611880" cy="265176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09728" cy="2651760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E88A3C"/>
                </a:solidFill>
                <a:latin typeface="Noto Sans CJK T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22262E"/>
                </a:solidFill>
                <a:latin typeface="Noto Sans CJK TC"/>
              </a:rPr>
              <a:t>故事內容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22262E"/>
                </a:solidFill>
                <a:latin typeface="Noto Sans CJK TC"/>
              </a:rPr>
              <a:t>更少的字、更簡單的詞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5A616B"/>
                </a:solidFill>
                <a:latin typeface="Noto Sans CJK TC"/>
              </a:rPr>
              <a:t>一頁一句 · 學齡前常用字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108960"/>
            <a:ext cx="3611880" cy="265176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3108960"/>
            <a:ext cx="109728" cy="2651760"/>
          </a:xfrm>
          <a:prstGeom prst="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33756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2E5EAA"/>
                </a:solidFill>
                <a:latin typeface="Noto Sans CJK TC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605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22262E"/>
                </a:solidFill>
                <a:latin typeface="Noto Sans CJK TC"/>
              </a:rPr>
              <a:t>繪本畫風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22262E"/>
                </a:solidFill>
                <a:latin typeface="Noto Sans CJK TC"/>
              </a:rPr>
              <a:t>固定 4 種大師 / 經典風格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5A616B"/>
                </a:solidFill>
                <a:latin typeface="Noto Sans CJK TC"/>
              </a:rPr>
              <a:t>宮崎駿 · 皮克斯 · 迪士尼 · 蠟筆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108960"/>
            <a:ext cx="3611880" cy="265176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3108960"/>
            <a:ext cx="109728" cy="2651760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333756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F2D5A"/>
                </a:solidFill>
                <a:latin typeface="Noto Sans CJK TC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41605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22262E"/>
                </a:solidFill>
                <a:latin typeface="Noto Sans CJK TC"/>
              </a:rPr>
              <a:t>排版 Layout</a:t>
            </a:r>
          </a:p>
          <a:p>
            <a:pPr>
              <a:spcBef>
                <a:spcPts val="600"/>
              </a:spcBef>
            </a:pPr>
            <a:r>
              <a:rPr sz="1600" b="0" i="0">
                <a:solidFill>
                  <a:srgbClr val="22262E"/>
                </a:solidFill>
                <a:latin typeface="Noto Sans CJK TC"/>
              </a:rPr>
              <a:t>文字疊在圖上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5A616B"/>
                </a:solidFill>
                <a:latin typeface="Noto Sans CJK TC"/>
              </a:rPr>
              <a:t>滿版插圖 + 底部疊字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8A3C"/>
                </a:solidFill>
                <a:latin typeface="Noto Sans CJK TC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Noto Sans CJK TC"/>
              </a:rPr>
              <a:t>範圍收斂：只保留 4 種畫風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22262E"/>
                </a:solidFill>
                <a:latin typeface="Noto Sans CJK TC"/>
              </a:rPr>
              <a:t>從 7 種收斂成 4 種大師 / 經典風格，每種綁定專屬 hosted FLUX LoRA，確保整本書風格一致。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00" cy="566928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59152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Noto Sans CJK TC"/>
              </a:rPr>
              <a:t>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2359152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Noto Sans CJK TC"/>
              </a:rPr>
              <a:t>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41648" y="2359152"/>
            <a:ext cx="4389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Noto Sans CJK TC"/>
              </a:rPr>
              <a:t>風格說明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2359152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Noto Sans CJK TC"/>
              </a:rPr>
              <a:t>FLUX LoRA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1097280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26080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2E5EAA"/>
                </a:solidFill>
                <a:latin typeface="Noto Sans Mono CJK TC"/>
              </a:rPr>
              <a:t>ghibli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2926080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Studio Ghibli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926080"/>
            <a:ext cx="4389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宮崎駿 / 吉卜力，手繪水彩背景、柔和暖光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2926080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flux-chatgpt-ghibli-lora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9856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493008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2E5EAA"/>
                </a:solidFill>
                <a:latin typeface="Noto Sans Mono CJK TC"/>
              </a:rPr>
              <a:t>pixar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3493008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3D Pixar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3493008"/>
            <a:ext cx="4389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皮克斯 3D 質感、柔和全域光、大眼角色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493008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Canopus-Pixar-3D-Flux-LoRA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86784"/>
            <a:ext cx="10972800" cy="56692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059936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2E5EAA"/>
                </a:solidFill>
                <a:latin typeface="Noto Sans Mono CJK TC"/>
              </a:rPr>
              <a:t>disney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38528" y="4059936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Classic Disney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1648" y="4059936"/>
            <a:ext cx="4389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經典迪士尼手繪 2D 動畫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13648" y="4059936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DisneyStyleLora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53712"/>
            <a:ext cx="10972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626864"/>
            <a:ext cx="10972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2E5EAA"/>
                </a:solidFill>
                <a:latin typeface="Noto Sans Mono CJK TC"/>
              </a:rPr>
              <a:t>crayon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38528" y="4626864"/>
            <a:ext cx="1920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Crayon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1648" y="4626864"/>
            <a:ext cx="4389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兒童蠟筆畫、蠟質筆觸、天真手繪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4626864"/>
            <a:ext cx="28346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純提示詞，無需 LoRA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440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E88A3C"/>
                </a:solidFill>
                <a:latin typeface="Noto Sans CJK TC"/>
              </a:rPr>
              <a:t>移除：</a:t>
            </a:r>
            <a:r>
              <a:rPr sz="1500" b="0" i="0">
                <a:solidFill>
                  <a:srgbClr val="22262E"/>
                </a:solidFill>
                <a:latin typeface="Noto Sans CJK TC"/>
              </a:rPr>
              <a:t>watercolor、ink_wash、flat_pastel（無專屬 LoRA、非「大師風格」定位）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5A616B"/>
                </a:solidFill>
                <a:latin typeface="Noto Sans CJK TC"/>
              </a:rPr>
              <a:t>程式碼：</a:t>
            </a:r>
            <a:r>
              <a:rPr sz="1400" b="0" i="0">
                <a:solidFill>
                  <a:srgbClr val="5A616B"/>
                </a:solidFill>
                <a:latin typeface="Noto Sans CJK TC"/>
              </a:rPr>
              <a:t>src/utils/styles.py — StyleKey / STYLE_PRESETS 僅保留 4 個；resolve_style() 仍對未知字串安全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8A3C"/>
                </a:solidFill>
                <a:latin typeface="Noto Sans CJK TC"/>
              </a:rPr>
              <a:t>改動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Noto Sans CJK TC"/>
              </a:rPr>
              <a:t>調整故事內容：更少的字、更簡單的詞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18288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88A3C"/>
                </a:solidFill>
                <a:latin typeface="Noto Sans CJK TC"/>
              </a:rPr>
              <a:t>為什麼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2262E"/>
                </a:solidFill>
                <a:latin typeface="Noto Sans CJK TC"/>
              </a:rPr>
              <a:t>真正的繪本字少、用字簡單，常常一頁只有一句話。原本預設「每頁 2–3 句」對繪本太長、太複雜。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440680" cy="18288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5EAA"/>
                </a:solidFill>
                <a:latin typeface="Noto Sans CJK TC"/>
              </a:rPr>
              <a:t>做法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2262E"/>
                </a:solidFill>
                <a:latin typeface="Noto Sans CJK TC"/>
              </a:rPr>
              <a:t>以 reading level 控制長度與用字難度，注入 LLM_STORY_GENERATION 的 {sentences}/{length_hint}/{vocab}/{age}。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11880"/>
            <a:ext cx="11064240" cy="713232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666744"/>
            <a:ext cx="1371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Noto Sans CJK TC"/>
              </a:rPr>
              <a:t>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848" y="3666744"/>
            <a:ext cx="1097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Noto Sans CJK TC"/>
              </a:rPr>
              <a:t>年齡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666744"/>
            <a:ext cx="2011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Noto Sans CJK TC"/>
              </a:rPr>
              <a:t>每頁句數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7568" y="3666744"/>
            <a:ext cx="2926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Noto Sans CJK TC"/>
              </a:rPr>
              <a:t>長度上限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3666744"/>
            <a:ext cx="2743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FFFFFF"/>
                </a:solidFill>
                <a:latin typeface="Noto Sans CJK TC"/>
              </a:rPr>
              <a:t>用字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25112"/>
            <a:ext cx="11064240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379976"/>
            <a:ext cx="1371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2E5EAA"/>
                </a:solidFill>
                <a:latin typeface="Noto Sans Mono CJK TC"/>
              </a:rPr>
              <a:t>simple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4379976"/>
            <a:ext cx="1097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3–5 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4379976"/>
            <a:ext cx="2011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恰好一句短句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4379976"/>
            <a:ext cx="2926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中文 ~18 字 / 英 ~12 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4379976"/>
            <a:ext cx="2743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只用學齡前常用字；無成語、子句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38344"/>
            <a:ext cx="11064240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093208"/>
            <a:ext cx="1371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1" i="0">
                <a:solidFill>
                  <a:srgbClr val="2E5EAA"/>
                </a:solidFill>
                <a:latin typeface="Noto Sans Mono CJK TC"/>
              </a:rPr>
              <a:t>standard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12848" y="5093208"/>
            <a:ext cx="1097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6–8 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5093208"/>
            <a:ext cx="2011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2–3 句短句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87568" y="5093208"/>
            <a:ext cx="29260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中文 ~45 字 / 英 ~35 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6528" y="5093208"/>
            <a:ext cx="2743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50" b="0" i="0">
                <a:solidFill>
                  <a:srgbClr val="22262E"/>
                </a:solidFill>
                <a:latin typeface="Noto Sans CJK TC"/>
              </a:rPr>
              <a:t>簡單、溫暖、適合小孩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A616B"/>
                </a:solidFill>
                <a:latin typeface="Noto Sans CJK TC"/>
              </a:rPr>
              <a:t>開關：</a:t>
            </a:r>
            <a:r>
              <a:rPr sz="1400" b="1" i="0">
                <a:solidFill>
                  <a:srgbClr val="2E5EAA"/>
                </a:solidFill>
                <a:latin typeface="Noto Sans Mono CJK TC"/>
              </a:rPr>
              <a:t>stage1.reading_level: simple</a:t>
            </a:r>
            <a:r>
              <a:rPr sz="1400" b="0" i="0">
                <a:solidFill>
                  <a:srgbClr val="5A616B"/>
                </a:solidFill>
                <a:latin typeface="Noto Sans CJK TC"/>
              </a:rPr>
              <a:t>　·　串接於 stage1_story.py 的 generate_story()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8A3C"/>
                </a:solidFill>
                <a:latin typeface="Noto Sans CJK TC"/>
              </a:rPr>
              <a:t>改動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Noto Sans CJK TC"/>
              </a:rPr>
              <a:t>調整畫風：固定幾種大師風格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88A3C"/>
                </a:solidFill>
                <a:latin typeface="Noto Sans CJK TC"/>
              </a:rPr>
              <a:t>為什麼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2262E"/>
                </a:solidFill>
                <a:latin typeface="Noto Sans CJK TC"/>
              </a:rPr>
              <a:t>若每頁畫風漂移，就不像一本完整的繪本。固定少數「大師 / 經典」風格 → 視覺一致、使用者選擇更直覺。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440680" cy="192024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sz="1600" b="1" i="0">
                <a:solidFill>
                  <a:srgbClr val="2E5EAA"/>
                </a:solidFill>
                <a:latin typeface="Noto Sans CJK TC"/>
              </a:rPr>
              <a:t>做法</a:t>
            </a:r>
            <a:r>
              <a:rPr sz="1400" b="0" i="0">
                <a:solidFill>
                  <a:srgbClr val="5A616B"/>
                </a:solidFill>
                <a:latin typeface="Noto Sans CJK TC"/>
              </a:rPr>
              <a:t>• 收斂為 4 種風格（見前頁）</a:t>
            </a:r>
          </a:p>
          <a:p>
            <a:pPr lvl="1">
              <a:spcAft>
                <a:spcPts val="400"/>
              </a:spcAft>
            </a:pPr>
            <a:r>
              <a:rPr sz="1400" b="0" i="0">
                <a:solidFill>
                  <a:srgbClr val="5A616B"/>
                </a:solidFill>
                <a:latin typeface="Noto Sans CJK TC"/>
              </a:rPr>
              <a:t>• 每個 preset 綁定專屬 FLUX LoRA + 調校過的 flux_prompt</a:t>
            </a:r>
          </a:p>
          <a:p>
            <a:pPr lvl="1">
              <a:spcAft>
                <a:spcPts val="400"/>
              </a:spcAft>
            </a:pPr>
            <a:r>
              <a:rPr sz="1400" b="0" i="0">
                <a:solidFill>
                  <a:srgbClr val="5A616B"/>
                </a:solidFill>
                <a:latin typeface="Noto Sans CJK TC"/>
              </a:rPr>
              <a:t>• 風格 label 也餵進故事提示詞，讓文字語氣與畫風一致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D5A"/>
                </a:solidFill>
                <a:latin typeface="Noto Sans CJK TC"/>
              </a:rPr>
              <a:t>對應程式碼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114800"/>
            <a:ext cx="4114800" cy="566928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2E5EAA"/>
                </a:solidFill>
                <a:latin typeface="Noto Sans Mono CJK TC"/>
              </a:rPr>
              <a:t>styles.py → STYLE_PRESETS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20624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62E"/>
                </a:solidFill>
                <a:latin typeface="Noto Sans CJK TC"/>
              </a:rPr>
              <a:t>風格定義（label / flux_prompt / flux_lora）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73168"/>
            <a:ext cx="4114800" cy="566928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86460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2E5EAA"/>
                </a:solidFill>
                <a:latin typeface="Noto Sans Mono CJK TC"/>
              </a:rPr>
              <a:t>illustrate_fal.py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86460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62E"/>
                </a:solidFill>
                <a:latin typeface="Noto Sans CJK TC"/>
              </a:rPr>
              <a:t>hosted FLUX 繪製（backend: fal）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31536"/>
            <a:ext cx="4114800" cy="566928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22976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2E5EAA"/>
                </a:solidFill>
                <a:latin typeface="Noto Sans Mono CJK TC"/>
              </a:rPr>
              <a:t>stage1_story.py:64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522976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22262E"/>
                </a:solidFill>
                <a:latin typeface="Noto Sans CJK TC"/>
              </a:rPr>
              <a:t>resolve_style(style).label 進入故事提示詞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A616B"/>
                </a:solidFill>
                <a:latin typeface="Noto Sans CJK TC"/>
              </a:rPr>
              <a:t>開關：</a:t>
            </a:r>
            <a:r>
              <a:rPr sz="1400" b="1" i="0">
                <a:solidFill>
                  <a:srgbClr val="2E5EAA"/>
                </a:solidFill>
                <a:latin typeface="Noto Sans Mono CJK TC"/>
              </a:rPr>
              <a:t>style 參數 + stage2.backend: fal + use_ipadapter: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8A3C"/>
                </a:solidFill>
                <a:latin typeface="Noto Sans CJK TC"/>
              </a:rPr>
              <a:t>改動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Noto Sans CJK TC"/>
              </a:rPr>
              <a:t>調整 Layout：文字疊在圖上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5394960" cy="18288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E88A3C"/>
                </a:solidFill>
                <a:latin typeface="Noto Sans CJK TC"/>
              </a:rPr>
              <a:t>為什麼</a:t>
            </a:r>
          </a:p>
          <a:p>
            <a:pPr>
              <a:spcBef>
                <a:spcPts val="600"/>
              </a:spcBef>
            </a:pPr>
            <a:r>
              <a:rPr sz="1500" b="0" i="0">
                <a:solidFill>
                  <a:srgbClr val="22262E"/>
                </a:solidFill>
                <a:latin typeface="Noto Sans CJK TC"/>
              </a:rPr>
              <a:t>舊版是「上圖、下方一大塊文字」。真正的繪本是滿版插圖、文字直接疊在圖上，閱讀體驗完全不同。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440680" cy="182880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sz="1600" b="1" i="0">
                <a:solidFill>
                  <a:srgbClr val="2E5EAA"/>
                </a:solidFill>
                <a:latin typeface="Noto Sans CJK TC"/>
              </a:rPr>
              <a:t>做法：full-bleed caption</a:t>
            </a:r>
            <a:r>
              <a:rPr sz="1400" b="0" i="0">
                <a:solidFill>
                  <a:srgbClr val="5A616B"/>
                </a:solidFill>
                <a:latin typeface="Noto Sans CJK TC"/>
              </a:rPr>
              <a:t>• _draw_full_bleed_image()：插圖等比放大滿版覆蓋整頁</a:t>
            </a:r>
          </a:p>
          <a:p>
            <a:pPr lvl="1">
              <a:spcAft>
                <a:spcPts val="400"/>
              </a:spcAft>
            </a:pPr>
            <a:r>
              <a:rPr sz="1400" b="0" i="0">
                <a:solidFill>
                  <a:srgbClr val="5A616B"/>
                </a:solidFill>
                <a:latin typeface="Noto Sans CJK TC"/>
              </a:rPr>
              <a:t>• _draw_caption()：底部半透明遮罩 + 白字置中，任何底圖都讀得到字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703320"/>
            <a:ext cx="2468880" cy="1828800"/>
          </a:xfrm>
          <a:prstGeom prst="rect">
            <a:avLst/>
          </a:prstGeom>
          <a:solidFill>
            <a:srgbClr val="C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320" y="3840480"/>
            <a:ext cx="2194560" cy="914400"/>
          </a:xfrm>
          <a:prstGeom prst="rect">
            <a:avLst/>
          </a:prstGeom>
          <a:solidFill>
            <a:srgbClr val="9EB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7320" y="4846320"/>
            <a:ext cx="21945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892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A616B"/>
                </a:solidFill>
                <a:latin typeface="Noto Sans CJK TC"/>
              </a:rPr>
              <a:t>文字區（下方）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262E"/>
                </a:solidFill>
                <a:latin typeface="Noto Sans CJK TC"/>
              </a:rPr>
              <a:t>舊：image top / text bottom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434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8A3C"/>
                </a:solidFill>
                <a:latin typeface="Noto Sans CJK T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703320"/>
            <a:ext cx="2468880" cy="1828800"/>
          </a:xfrm>
          <a:prstGeom prst="rect">
            <a:avLst/>
          </a:prstGeom>
          <a:solidFill>
            <a:srgbClr val="C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92040" y="3749039"/>
            <a:ext cx="2377440" cy="1737360"/>
          </a:xfrm>
          <a:prstGeom prst="rect">
            <a:avLst/>
          </a:prstGeom>
          <a:solidFill>
            <a:srgbClr val="7C9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92040" y="4983480"/>
            <a:ext cx="2377440" cy="548640"/>
          </a:xfrm>
          <a:prstGeom prst="rect">
            <a:avLst/>
          </a:prstGeom>
          <a:solidFill>
            <a:srgbClr val="22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Noto Sans CJK TC"/>
              </a:rPr>
              <a:t>文字疊在圖上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623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262E"/>
                </a:solidFill>
                <a:latin typeface="Noto Sans CJK TC"/>
              </a:rPr>
              <a:t>新：full_bleed_caption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611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D5A"/>
                </a:solidFill>
                <a:latin typeface="Noto Sans CJK TC"/>
              </a:rPr>
              <a:t>可調常數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0233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E5EAA"/>
                </a:solidFill>
                <a:latin typeface="Noto Sans Mono CJK TC"/>
              </a:rPr>
              <a:t>CAPTION_FONT_SIZE</a:t>
            </a:r>
            <a:r>
              <a:rPr sz="1300" b="0" i="0">
                <a:solidFill>
                  <a:srgbClr val="22262E"/>
                </a:solidFill>
                <a:latin typeface="Noto Sans Mono CJK TC"/>
              </a:rPr>
              <a:t>  =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40740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E5EAA"/>
                </a:solidFill>
                <a:latin typeface="Noto Sans Mono CJK TC"/>
              </a:rPr>
              <a:t>CAPTION_LINE_HEIGHT</a:t>
            </a:r>
            <a:r>
              <a:rPr sz="1300" b="0" i="0">
                <a:solidFill>
                  <a:srgbClr val="22262E"/>
                </a:solidFill>
                <a:latin typeface="Noto Sans Mono CJK TC"/>
              </a:rPr>
              <a:t>  = 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7914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E5EAA"/>
                </a:solidFill>
                <a:latin typeface="Noto Sans Mono CJK TC"/>
              </a:rPr>
              <a:t>SCRIM_ALPHA</a:t>
            </a:r>
            <a:r>
              <a:rPr sz="1300" b="0" i="0">
                <a:solidFill>
                  <a:srgbClr val="22262E"/>
                </a:solidFill>
                <a:latin typeface="Noto Sans Mono CJK TC"/>
              </a:rPr>
              <a:t>  = 0.5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17550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E5EAA"/>
                </a:solidFill>
                <a:latin typeface="Noto Sans Mono CJK TC"/>
              </a:rPr>
              <a:t>CAPTION_PAD_X / Y</a:t>
            </a:r>
            <a:r>
              <a:rPr sz="1300" b="0" i="0">
                <a:solidFill>
                  <a:srgbClr val="22262E"/>
                </a:solidFill>
                <a:latin typeface="Noto Sans Mono CJK TC"/>
              </a:rPr>
              <a:t>  = 1.5 / 0.7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A616B"/>
                </a:solidFill>
                <a:latin typeface="Noto Sans CJK TC"/>
              </a:rPr>
              <a:t>開關：</a:t>
            </a:r>
            <a:r>
              <a:rPr sz="1400" b="1" i="0">
                <a:solidFill>
                  <a:srgbClr val="2E5EAA"/>
                </a:solidFill>
                <a:latin typeface="Noto Sans Mono CJK TC"/>
              </a:rPr>
              <a:t>stage3.page_layout: full_bleed_caption</a:t>
            </a:r>
            <a:r>
              <a:rPr sz="1300" b="0" i="0">
                <a:solidFill>
                  <a:srgbClr val="5A616B"/>
                </a:solidFill>
                <a:latin typeface="Noto Sans CJK TC"/>
              </a:rPr>
              <a:t>　（舊排版 image_top_text_bottom 保留供 ablation 對照）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2D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E88A3C"/>
                </a:solidFill>
                <a:latin typeface="Noto Sans CJK T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Noto Sans CJK TC"/>
              </a:rPr>
              <a:t>一份 demo 設定就能開啟三項調整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852160" cy="3291840"/>
          </a:xfrm>
          <a:prstGeom prst="roundRect">
            <a:avLst/>
          </a:prstGeom>
          <a:solidFill>
            <a:srgbClr val="1B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Noto Sans Mono CJK TC"/>
              </a:rPr>
              <a:t>stage1: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9CDCFE"/>
                </a:solidFill>
                <a:latin typeface="Noto Sans Mono CJK TC"/>
              </a:rPr>
              <a:t>  reading_level: simple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6A9955"/>
                </a:solidFill>
                <a:latin typeface="Noto Sans Mono CJK TC"/>
              </a:rPr>
              <a:t>      # ① 一頁一句、用字最簡單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Noto Sans Mono CJK TC"/>
              </a:rPr>
              <a:t>stage2: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9CDCFE"/>
                </a:solidFill>
                <a:latin typeface="Noto Sans Mono CJK TC"/>
              </a:rPr>
              <a:t>  backend: fal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6A9955"/>
                </a:solidFill>
                <a:latin typeface="Noto Sans Mono CJK TC"/>
              </a:rPr>
              <a:t>      # ② 4 大師風格 + FLUX LoRA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9CDCFE"/>
                </a:solidFill>
                <a:latin typeface="Noto Sans Mono CJK TC"/>
              </a:rPr>
              <a:t>  use_ipadapter: true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Noto Sans Mono CJK TC"/>
              </a:rPr>
              <a:t>stage3: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9CDCFE"/>
                </a:solidFill>
                <a:latin typeface="Noto Sans Mono CJK TC"/>
              </a:rPr>
              <a:t>  page_layout: full_bleed_caption</a:t>
            </a:r>
          </a:p>
          <a:p>
            <a:pPr>
              <a:spcAft>
                <a:spcPts val="200"/>
              </a:spcAft>
            </a:pPr>
            <a:r>
              <a:rPr sz="1300" b="0" i="0">
                <a:solidFill>
                  <a:srgbClr val="6A9955"/>
                </a:solidFill>
                <a:latin typeface="Noto Sans Mono CJK TC"/>
              </a:rPr>
              <a:t>      # ③ 滿版插圖 + 文字疊圖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D5A"/>
                </a:solidFill>
                <a:latin typeface="Noto Sans CJK TC"/>
              </a:rPr>
              <a:t>調整 → 核心檔案 → 開關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2057400"/>
            <a:ext cx="4937760" cy="8686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0" y="2057400"/>
            <a:ext cx="109728" cy="868680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1488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E88A3C"/>
                </a:solidFill>
                <a:latin typeface="Noto Sans CJK TC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130552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2262E"/>
                </a:solidFill>
                <a:latin typeface="Noto Sans CJK TC"/>
              </a:rPr>
              <a:t>故事內容</a:t>
            </a:r>
          </a:p>
          <a:p>
            <a:r>
              <a:rPr sz="1150" b="0" i="0">
                <a:solidFill>
                  <a:srgbClr val="5A616B"/>
                </a:solidFill>
                <a:latin typeface="Noto Sans Mono CJK TC"/>
              </a:rPr>
              <a:t>prompt_templates.py / stage1_story.py</a:t>
            </a:r>
          </a:p>
          <a:p>
            <a:r>
              <a:rPr sz="1150" b="0" i="0">
                <a:solidFill>
                  <a:srgbClr val="2E5EAA"/>
                </a:solidFill>
                <a:latin typeface="Noto Sans Mono CJK TC"/>
              </a:rPr>
              <a:t>stage1.reading_level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035808"/>
            <a:ext cx="4937760" cy="8686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0" y="3035808"/>
            <a:ext cx="109728" cy="868680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312724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E88A3C"/>
                </a:solidFill>
                <a:latin typeface="Noto Sans CJK T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10896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2262E"/>
                </a:solidFill>
                <a:latin typeface="Noto Sans CJK TC"/>
              </a:rPr>
              <a:t>畫風</a:t>
            </a:r>
          </a:p>
          <a:p>
            <a:r>
              <a:rPr sz="1150" b="0" i="0">
                <a:solidFill>
                  <a:srgbClr val="5A616B"/>
                </a:solidFill>
                <a:latin typeface="Noto Sans Mono CJK TC"/>
              </a:rPr>
              <a:t>styles.py / illustrate_fal.py</a:t>
            </a:r>
          </a:p>
          <a:p>
            <a:r>
              <a:rPr sz="1150" b="0" i="0">
                <a:solidFill>
                  <a:srgbClr val="2E5EAA"/>
                </a:solidFill>
                <a:latin typeface="Noto Sans Mono CJK TC"/>
              </a:rPr>
              <a:t>style + stage2.backend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4014216"/>
            <a:ext cx="4937760" cy="868680"/>
          </a:xfrm>
          <a:prstGeom prst="round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014216"/>
            <a:ext cx="109728" cy="868680"/>
          </a:xfrm>
          <a:prstGeom prst="rect">
            <a:avLst/>
          </a:prstGeom>
          <a:solidFill>
            <a:srgbClr val="E8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410565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E88A3C"/>
                </a:solidFill>
                <a:latin typeface="Noto Sans CJK T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087368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2262E"/>
                </a:solidFill>
                <a:latin typeface="Noto Sans CJK TC"/>
              </a:rPr>
              <a:t>Layout</a:t>
            </a:r>
          </a:p>
          <a:p>
            <a:r>
              <a:rPr sz="1150" b="0" i="0">
                <a:solidFill>
                  <a:srgbClr val="5A616B"/>
                </a:solidFill>
                <a:latin typeface="Noto Sans Mono CJK TC"/>
              </a:rPr>
              <a:t>stage3_assemble.py</a:t>
            </a:r>
          </a:p>
          <a:p>
            <a:r>
              <a:rPr sz="1150" b="0" i="0">
                <a:solidFill>
                  <a:srgbClr val="2E5EAA"/>
                </a:solidFill>
                <a:latin typeface="Noto Sans Mono CJK TC"/>
              </a:rPr>
              <a:t>stage3.page_layout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074920"/>
            <a:ext cx="5852160" cy="1371600"/>
          </a:xfrm>
          <a:prstGeom prst="roundRect">
            <a:avLst/>
          </a:prstGeom>
          <a:solidFill>
            <a:srgbClr val="FD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E88A3C"/>
                </a:solidFill>
                <a:latin typeface="Noto Sans CJK TC"/>
              </a:rPr>
              <a:t>下一步（未列入本次範圍）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2262E"/>
                </a:solidFill>
                <a:latin typeface="Noto Sans CJK TC"/>
              </a:rPr>
              <a:t>目前疊字固定在底部 scrim。可再支援「對話框 / 特定圖案內文字」——依場景放到圖中留白區或畫成對話泡泡。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